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C29"/>
          </a:solidFill>
          <a:ln w="12700">
            <a:solidFill>
              <a:srgbClr val="0F0C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7B61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82296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7B61FF">
              <a:alpha val="28000"/>
            </a:srgbClr>
          </a:solidFill>
          <a:ln w="6350">
            <a:solidFill>
              <a:srgbClr val="7B61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822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RFM · Python · Excel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97280" y="1234440"/>
            <a:ext cx="6949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</a:t>
            </a:r>
            <a:endParaRPr lang="en-US" sz="4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Prediction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371600" y="297180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future customer spend using RFM features + XGBoost regression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enable data-driven targeted marketing decisions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0" y="3840480"/>
            <a:ext cx="1828800" cy="685800"/>
          </a:xfrm>
          <a:prstGeom prst="roundRect">
            <a:avLst>
              <a:gd name="adj" fmla="val 16000"/>
            </a:avLst>
          </a:prstGeom>
          <a:solidFill>
            <a:srgbClr val="1A1060">
              <a:alpha val="70000"/>
            </a:srgbClr>
          </a:solidFill>
          <a:ln w="6350">
            <a:solidFill>
              <a:srgbClr val="7B61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8587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Customers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41788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657600" y="3840480"/>
            <a:ext cx="1828800" cy="685800"/>
          </a:xfrm>
          <a:prstGeom prst="roundRect">
            <a:avLst>
              <a:gd name="adj" fmla="val 16000"/>
            </a:avLst>
          </a:prstGeom>
          <a:solidFill>
            <a:srgbClr val="1A1060">
              <a:alpha val="70000"/>
            </a:srgbClr>
          </a:solidFill>
          <a:ln w="6350">
            <a:solidFill>
              <a:srgbClr val="7B61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38587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£124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41788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943600" y="3840480"/>
            <a:ext cx="1828800" cy="685800"/>
          </a:xfrm>
          <a:prstGeom prst="roundRect">
            <a:avLst>
              <a:gd name="adj" fmla="val 16000"/>
            </a:avLst>
          </a:prstGeom>
          <a:solidFill>
            <a:srgbClr val="1A1060">
              <a:alpha val="70000"/>
            </a:srgbClr>
          </a:solidFill>
          <a:ln w="6350">
            <a:solidFill>
              <a:srgbClr val="7B61F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38587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Segments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41788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C29"/>
          </a:solidFill>
          <a:ln w="12700">
            <a:solidFill>
              <a:srgbClr val="0F0C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7B61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Methodology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1051560"/>
          </a:xfrm>
          <a:prstGeom prst="roundRect">
            <a:avLst>
              <a:gd name="adj" fmla="val 10435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0424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261872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how much each customer will spend in the next 6 months, based on their historical purchase behaviour (Recency, Frequency, Monetary value), to help marketing teams allocate budgets more effectively and personalise campaigns.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1554480" cy="2468880"/>
          </a:xfrm>
          <a:prstGeom prst="roundRect">
            <a:avLst>
              <a:gd name="adj" fmla="val 7059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7B61FF">
              <a:alpha val="40000"/>
            </a:srgbClr>
          </a:solidFill>
          <a:ln w="6350">
            <a:solidFill>
              <a:srgbClr val="7B61FF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9260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493008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nulls,</a:t>
            </a:r>
            <a:endParaRPr lang="en-US" sz="7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920240" y="2834640"/>
            <a:ext cx="146304" cy="0"/>
          </a:xfrm>
          <a:prstGeom prst="line">
            <a:avLst/>
          </a:prstGeom>
          <a:noFill/>
          <a:ln w="19050">
            <a:solidFill>
              <a:srgbClr val="7B61FF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66544" y="2240280"/>
            <a:ext cx="1554480" cy="2468880"/>
          </a:xfrm>
          <a:prstGeom prst="roundRect">
            <a:avLst>
              <a:gd name="adj" fmla="val 7059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9464" y="2286000"/>
            <a:ext cx="548640" cy="548640"/>
          </a:xfrm>
          <a:prstGeom prst="ellipse">
            <a:avLst/>
          </a:prstGeom>
          <a:solidFill>
            <a:srgbClr val="7B61FF">
              <a:alpha val="40000"/>
            </a:srgbClr>
          </a:solidFill>
          <a:ln w="6350">
            <a:solidFill>
              <a:srgbClr val="7B61FF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9464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12264" y="29260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12264" y="3493008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6M → features</a:t>
            </a:r>
            <a:endParaRPr lang="en-US" sz="7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6M → target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621024" y="2834640"/>
            <a:ext cx="146304" cy="0"/>
          </a:xfrm>
          <a:prstGeom prst="line">
            <a:avLst/>
          </a:prstGeom>
          <a:noFill/>
          <a:ln w="19050">
            <a:solidFill>
              <a:srgbClr val="7B61FF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67328" y="2240280"/>
            <a:ext cx="1554480" cy="2468880"/>
          </a:xfrm>
          <a:prstGeom prst="roundRect">
            <a:avLst>
              <a:gd name="adj" fmla="val 7059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70248" y="2286000"/>
            <a:ext cx="548640" cy="548640"/>
          </a:xfrm>
          <a:prstGeom prst="ellipse">
            <a:avLst/>
          </a:prstGeom>
          <a:solidFill>
            <a:srgbClr val="7B61FF">
              <a:alpha val="40000"/>
            </a:srgbClr>
          </a:solidFill>
          <a:ln w="6350">
            <a:solidFill>
              <a:srgbClr val="7B61FF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70248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13048" y="29260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13048" y="3493008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Recency, Frequency,</a:t>
            </a:r>
            <a:endParaRPr lang="en-US" sz="7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Monetary, AOV, Tenure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321808" y="2834640"/>
            <a:ext cx="146304" cy="0"/>
          </a:xfrm>
          <a:prstGeom prst="line">
            <a:avLst/>
          </a:prstGeom>
          <a:noFill/>
          <a:ln w="19050">
            <a:solidFill>
              <a:srgbClr val="7B61FF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68112" y="2240280"/>
            <a:ext cx="1554480" cy="2468880"/>
          </a:xfrm>
          <a:prstGeom prst="roundRect">
            <a:avLst>
              <a:gd name="adj" fmla="val 7059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71032" y="2286000"/>
            <a:ext cx="548640" cy="548640"/>
          </a:xfrm>
          <a:prstGeom prst="ellipse">
            <a:avLst/>
          </a:prstGeom>
          <a:solidFill>
            <a:srgbClr val="7B61FF">
              <a:alpha val="40000"/>
            </a:srgbClr>
          </a:solidFill>
          <a:ln w="6350">
            <a:solidFill>
              <a:srgbClr val="7B61FF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71032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13832" y="29260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3493008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estimators,</a:t>
            </a:r>
            <a:endParaRPr lang="en-US" sz="7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0.05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022592" y="2834640"/>
            <a:ext cx="146304" cy="0"/>
          </a:xfrm>
          <a:prstGeom prst="line">
            <a:avLst/>
          </a:prstGeom>
          <a:noFill/>
          <a:ln w="19050">
            <a:solidFill>
              <a:srgbClr val="7B61FF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68896" y="2240280"/>
            <a:ext cx="1554480" cy="2468880"/>
          </a:xfrm>
          <a:prstGeom prst="roundRect">
            <a:avLst>
              <a:gd name="adj" fmla="val 7059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671816" y="2286000"/>
            <a:ext cx="548640" cy="548640"/>
          </a:xfrm>
          <a:prstGeom prst="ellipse">
            <a:avLst/>
          </a:prstGeom>
          <a:solidFill>
            <a:srgbClr val="7B61FF">
              <a:alpha val="40000"/>
            </a:srgbClr>
          </a:solidFill>
          <a:ln w="6350">
            <a:solidFill>
              <a:srgbClr val="7B61FF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71816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14616" y="29260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Segment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214616" y="3493008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RMSE,</a:t>
            </a:r>
            <a:endParaRPr lang="en-US" sz="7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4-tier segmentation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C29"/>
          </a:solidFill>
          <a:ln w="12700">
            <a:solidFill>
              <a:srgbClr val="0F0C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7B61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RFM Features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749040" cy="1645920"/>
          </a:xfrm>
          <a:prstGeom prst="roundRect">
            <a:avLst>
              <a:gd name="adj" fmla="val 6667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10515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Dataset: UCI Online Retail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8368" y="133502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541,909 transactions (after cleaning ~400K)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8368" y="155448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4,372 unique customers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368" y="177393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Date range: Dec 2010 – Dec 2011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8368" y="199339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Country: United Kingdom (primary)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58368" y="221284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Cutoff: Jun 2011 (feature/target split)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43400" y="1005840"/>
            <a:ext cx="4343400" cy="1645920"/>
          </a:xfrm>
          <a:prstGeom prst="roundRect">
            <a:avLst>
              <a:gd name="adj" fmla="val 6667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26280" y="10515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Engineered Features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26280" y="133502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897880" y="133502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purchase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26280" y="154533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97880" y="154533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orders placed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26280" y="175564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897880" y="17556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historical spend £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26280" y="19659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97880" y="19659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26280" y="21762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897880" y="217627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first purchase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26280" y="238658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UniqueProds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97880" y="238658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distinct products bought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2788920"/>
            <a:ext cx="8229600" cy="2011680"/>
          </a:xfrm>
          <a:prstGeom prst="roundRect">
            <a:avLst>
              <a:gd name="adj" fmla="val 5455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28346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(XGBoost)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94360" y="30906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103120" y="3127248"/>
            <a:ext cx="6217920" cy="128016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03120" y="3127248"/>
            <a:ext cx="2126529" cy="128016"/>
          </a:xfrm>
          <a:prstGeom prst="roundRect">
            <a:avLst>
              <a:gd name="adj" fmla="val 50000"/>
            </a:avLst>
          </a:prstGeom>
          <a:solidFill>
            <a:srgbClr val="FFD54F">
              <a:alpha val="70000"/>
            </a:srgbClr>
          </a:solidFill>
          <a:ln w="12700">
            <a:solidFill>
              <a:srgbClr val="FFD54F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02801" y="30906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34.2%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94360" y="33558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103120" y="3392424"/>
            <a:ext cx="6217920" cy="128016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03120" y="3392424"/>
            <a:ext cx="1417686" cy="128016"/>
          </a:xfrm>
          <a:prstGeom prst="roundRect">
            <a:avLst>
              <a:gd name="adj" fmla="val 50000"/>
            </a:avLst>
          </a:prstGeom>
          <a:solidFill>
            <a:srgbClr val="7B61FF">
              <a:alpha val="70000"/>
            </a:srgbClr>
          </a:solidFill>
          <a:ln w="12700">
            <a:solidFill>
              <a:srgbClr val="7B61FF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93958" y="33558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22.8%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94360" y="36210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103120" y="3657600"/>
            <a:ext cx="6217920" cy="128016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03120" y="3657600"/>
            <a:ext cx="1162751" cy="128016"/>
          </a:xfrm>
          <a:prstGeom prst="roundRect">
            <a:avLst>
              <a:gd name="adj" fmla="val 50000"/>
            </a:avLst>
          </a:prstGeom>
          <a:solidFill>
            <a:srgbClr val="00D4FF">
              <a:alpha val="70000"/>
            </a:srgbClr>
          </a:solidFill>
          <a:ln w="12700">
            <a:solidFill>
              <a:srgbClr val="00D4FF">
                <a:alpha val="8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39023" y="362102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18.7%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94360" y="388620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103120" y="3922776"/>
            <a:ext cx="6217920" cy="128016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03120" y="3922776"/>
            <a:ext cx="696407" cy="128016"/>
          </a:xfrm>
          <a:prstGeom prst="roundRect">
            <a:avLst>
              <a:gd name="adj" fmla="val 50000"/>
            </a:avLst>
          </a:prstGeom>
          <a:solidFill>
            <a:srgbClr val="00E396">
              <a:alpha val="70000"/>
            </a:srgbClr>
          </a:solidFill>
          <a:ln w="12700">
            <a:solidFill>
              <a:srgbClr val="00E396">
                <a:alpha val="8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72679" y="38862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E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11.2%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94360" y="415137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103120" y="4187952"/>
            <a:ext cx="6217920" cy="128016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103120" y="4187952"/>
            <a:ext cx="503652" cy="128016"/>
          </a:xfrm>
          <a:prstGeom prst="roundRect">
            <a:avLst>
              <a:gd name="adj" fmla="val 50000"/>
            </a:avLst>
          </a:prstGeom>
          <a:solidFill>
            <a:srgbClr val="FF9800">
              <a:alpha val="70000"/>
            </a:srgbClr>
          </a:solidFill>
          <a:ln w="12700">
            <a:solidFill>
              <a:srgbClr val="FF9800">
                <a:alpha val="8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79924" y="415137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94360" y="441655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103120" y="4453128"/>
            <a:ext cx="6217920" cy="128016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103120" y="4453128"/>
            <a:ext cx="310896" cy="128016"/>
          </a:xfrm>
          <a:prstGeom prst="roundRect">
            <a:avLst>
              <a:gd name="adj" fmla="val 50000"/>
            </a:avLst>
          </a:prstGeom>
          <a:solidFill>
            <a:srgbClr val="FF4C6A">
              <a:alpha val="70000"/>
            </a:srgbClr>
          </a:solidFill>
          <a:ln w="12700">
            <a:solidFill>
              <a:srgbClr val="FF4C6A">
                <a:alpha val="8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487168" y="44165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4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5.0%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C29"/>
          </a:solidFill>
          <a:ln w="12700">
            <a:solidFill>
              <a:srgbClr val="0F0C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7B61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vs Random Forest — Results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6984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35331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£124.50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66928" y="195681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7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avg £ error per customer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051560" y="2487168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0E396">
              <a:alpha val="25000"/>
            </a:srgbClr>
          </a:solidFill>
          <a:ln w="6350">
            <a:solidFill>
              <a:srgbClr val="00E396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48716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E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XGBoost wins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346704" y="100584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83864" y="106984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38144" y="135331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£298.70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456432" y="195681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7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penalises large errors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941064" y="2487168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0E396">
              <a:alpha val="25000"/>
            </a:srgbClr>
          </a:solidFill>
          <a:ln w="6350">
            <a:solidFill>
              <a:srgbClr val="00E396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41064" y="248716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E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XGBoost wins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236208" y="100584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73368" y="106984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27648" y="135331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0.847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345936" y="195681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</a:t>
            </a:r>
            <a:endParaRPr lang="en-US" sz="7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model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830568" y="2487168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0E396">
              <a:alpha val="25000"/>
            </a:srgbClr>
          </a:solidFill>
          <a:ln w="6350">
            <a:solidFill>
              <a:srgbClr val="00E396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0568" y="248716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E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XGBoost wins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57200" y="2971800"/>
            <a:ext cx="8229600" cy="1874520"/>
          </a:xfrm>
          <a:prstGeom prst="roundRect">
            <a:avLst>
              <a:gd name="adj" fmla="val 5854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30175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COMPARISON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40080" y="32552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743200" y="32552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029200" y="32552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315200" y="32552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40080" y="349300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(£)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743200" y="349300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124.50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29200" y="349300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178.30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315200" y="349300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✓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40080" y="373989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(£)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743200" y="373989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298.70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029200" y="373989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412.50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315200" y="373989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✓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40080" y="398678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743200" y="398678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29200" y="398678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0.791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315200" y="398678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✓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40080" y="423367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743200" y="423367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029200" y="423367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315200" y="423367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✓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C29"/>
          </a:solidFill>
          <a:ln w="12700">
            <a:solidFill>
              <a:srgbClr val="0F0C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7B61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LTV-Based Segments &amp; Actions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8229600" cy="896112"/>
          </a:xfrm>
          <a:prstGeom prst="roundRect">
            <a:avLst>
              <a:gd name="adj" fmla="val 12245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61872"/>
            <a:ext cx="347472" cy="347472"/>
          </a:xfrm>
          <a:prstGeom prst="ellipse">
            <a:avLst/>
          </a:prstGeom>
          <a:solidFill>
            <a:srgbClr val="FFD54F">
              <a:alpha val="60000"/>
            </a:srgbClr>
          </a:solidFill>
          <a:ln w="6350">
            <a:solidFill>
              <a:srgbClr val="FFD54F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06070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VIP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51790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customers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468880" y="107899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LTV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2468880" y="126187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£2,350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0" y="10789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BASE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657600" y="126187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1078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Exclusive loyalty rewards, early access, dedicated manager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0" y="14904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Highest ROI per £ of marketing spend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1975104"/>
            <a:ext cx="8229600" cy="896112"/>
          </a:xfrm>
          <a:prstGeom prst="roundRect">
            <a:avLst>
              <a:gd name="adj" fmla="val 12245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2249424"/>
            <a:ext cx="347472" cy="347472"/>
          </a:xfrm>
          <a:prstGeom prst="ellipse">
            <a:avLst/>
          </a:prstGeom>
          <a:solidFill>
            <a:srgbClr val="7B61FF">
              <a:alpha val="60000"/>
            </a:srgbClr>
          </a:solidFill>
          <a:ln w="6350">
            <a:solidFill>
              <a:srgbClr val="7B61FF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204825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250545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customers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468880" y="206654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LTV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2468880" y="224942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£890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657600" y="20665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BASE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3657600" y="224942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754880" y="20665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Upsell premium bundles, subscription offers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0" y="24780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Strong upgrade potential — close to VIP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57200" y="2962656"/>
            <a:ext cx="8229600" cy="896112"/>
          </a:xfrm>
          <a:prstGeom prst="roundRect">
            <a:avLst>
              <a:gd name="adj" fmla="val 12245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" y="3236976"/>
            <a:ext cx="347472" cy="347472"/>
          </a:xfrm>
          <a:prstGeom prst="ellipse">
            <a:avLst/>
          </a:prstGeom>
          <a:solidFill>
            <a:srgbClr val="00D4FF">
              <a:alpha val="60000"/>
            </a:srgbClr>
          </a:solidFill>
          <a:ln w="6350">
            <a:solidFill>
              <a:srgbClr val="00D4FF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303580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51560" y="34930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customers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468880" y="305409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LTV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2468880" y="323697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£380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657600" y="305409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BASE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3657600" y="323697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37.5%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754880" y="30540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Personalised re-engagement email campaigns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54880" y="34655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Needs a nudge — personalisation works here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7200" y="3950208"/>
            <a:ext cx="8229600" cy="896112"/>
          </a:xfrm>
          <a:prstGeom prst="roundRect">
            <a:avLst>
              <a:gd name="adj" fmla="val 12245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94360" y="4224528"/>
            <a:ext cx="347472" cy="347472"/>
          </a:xfrm>
          <a:prstGeom prst="ellipse">
            <a:avLst/>
          </a:prstGeom>
          <a:solidFill>
            <a:srgbClr val="888888">
              <a:alpha val="60000"/>
            </a:srgbClr>
          </a:solidFill>
          <a:ln w="6350">
            <a:solidFill>
              <a:srgbClr val="888888">
                <a:alpha val="8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1560" y="40233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51560" y="44805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customers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468880" y="404164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LTV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2468880" y="42245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£75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3657600" y="404164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BASE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3657600" y="422452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4754880" y="40416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Low-cost retention only (push / win-back coupon)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754880" y="44531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Evaluate retention cost vs expected LTV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C29"/>
          </a:solidFill>
          <a:ln w="12700">
            <a:solidFill>
              <a:srgbClr val="0F0C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7B61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Business 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94360" y="15727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 is #1 driver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993392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34.2% feature importance — total past spend is the single strongest predictor of future LTV. Customers who spent more historically are far more likely to spend again.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346704" y="1024128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83864" y="107899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83864" y="15727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matters more than frequency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83864" y="1993392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purchased recently (low recency score) outperform high-frequency but dormant customers. Recency alone explains 22.8% of LTV variance.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236208" y="1024128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73368" y="107899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73368" y="15727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12.5% drives disproportionate value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73368" y="1993392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segment (just 5 customers) generates estimated £11,750 in future LTV — equivalent to 155× the Low segment's average. Concentrate retention here.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8229600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4747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21792" y="3749040"/>
            <a:ext cx="182880" cy="182880"/>
          </a:xfrm>
          <a:prstGeom prst="ellipse">
            <a:avLst/>
          </a:prstGeom>
          <a:solidFill>
            <a:srgbClr val="00E396">
              <a:alpha val="50000"/>
            </a:srgbClr>
          </a:solidFill>
          <a:ln w="12700">
            <a:solidFill>
              <a:srgbClr val="00E396">
                <a:alpha val="7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373075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40% of retention budget on VIP segment exclusively — max ROI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21792" y="3995928"/>
            <a:ext cx="182880" cy="182880"/>
          </a:xfrm>
          <a:prstGeom prst="ellipse">
            <a:avLst/>
          </a:prstGeom>
          <a:solidFill>
            <a:srgbClr val="00E396">
              <a:alpha val="50000"/>
            </a:srgbClr>
          </a:solidFill>
          <a:ln w="12700">
            <a:solidFill>
              <a:srgbClr val="00E396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397764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re-engagement campaign for Medium segment within 30 days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" y="4242816"/>
            <a:ext cx="182880" cy="182880"/>
          </a:xfrm>
          <a:prstGeom prst="ellipse">
            <a:avLst/>
          </a:prstGeom>
          <a:solidFill>
            <a:srgbClr val="FFD54F">
              <a:alpha val="50000"/>
            </a:srgbClr>
          </a:solidFill>
          <a:ln w="12700">
            <a:solidFill>
              <a:srgbClr val="FFD54F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4224528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Low-LTV customers from paid channels; use free channels only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1792" y="4489704"/>
            <a:ext cx="182880" cy="182880"/>
          </a:xfrm>
          <a:prstGeom prst="ellipse">
            <a:avLst/>
          </a:prstGeom>
          <a:solidFill>
            <a:srgbClr val="AAAACC">
              <a:alpha val="50000"/>
            </a:srgbClr>
          </a:solidFill>
          <a:ln w="12700">
            <a:solidFill>
              <a:srgbClr val="AAAACC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4471416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model monthly — LTV shifts as customer behaviour evolves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C29"/>
          </a:solidFill>
          <a:ln w="12700">
            <a:solidFill>
              <a:srgbClr val="0F0C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7B61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Final Outputs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265176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15568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15568" y="13898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346704" y="987552"/>
            <a:ext cx="265176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83864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005072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005072" y="13898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RFM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236208" y="987552"/>
            <a:ext cx="265176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73368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94576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94576" y="13898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regression model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157984"/>
            <a:ext cx="265176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2267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15568" y="22677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15568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RF model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46704" y="2157984"/>
            <a:ext cx="265176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83864" y="2267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005072" y="22677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/ Matplotlib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005072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236208" y="2157984"/>
            <a:ext cx="265176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73368" y="2267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894576" y="22677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94576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app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338328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" y="342900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21792" y="371246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📓 Customer_LTV_Prediction.ipynb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1792" y="391363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notebook with all steps &amp; visualisations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21792" y="42062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LTV_Excel_Report.xlsx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1792" y="440740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4-sheet Excel: predictions, segments, RFM scores, model metrics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736592" y="371246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app.py + Glassmorphism UI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36592" y="391363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 — deployable to streamlit.io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736592" y="42062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Final_LTV_Predictions.csv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36592" y="440740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Customer-level LTV predictions + segment labels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C29"/>
          </a:solidFill>
          <a:ln w="12700">
            <a:solidFill>
              <a:srgbClr val="0F0C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7B61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914400"/>
            <a:ext cx="3657600" cy="3657600"/>
          </a:xfrm>
          <a:prstGeom prst="ellipse">
            <a:avLst/>
          </a:prstGeom>
          <a:solidFill>
            <a:srgbClr val="7B61FF">
              <a:alpha val="8000"/>
            </a:srgbClr>
          </a:solidFill>
          <a:ln w="12700">
            <a:solidFill>
              <a:srgbClr val="7B61FF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 Prediction Model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63040" y="315468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08760" y="32004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XGBoost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08760" y="3520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749040" y="315468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94760" y="32004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81.2% Accuracy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94760" y="3520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035040" y="315468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32004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Segments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80760" y="3520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· XGBoost · Streamlit · Excel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LTV Prediction Model</dc:title>
  <dc:subject>PptxGenJS Presentation</dc:subject>
  <dc:creator>Data Science Portfolio</dc:creator>
  <cp:lastModifiedBy>Data Science Portfolio</cp:lastModifiedBy>
  <cp:revision>1</cp:revision>
  <dcterms:created xsi:type="dcterms:W3CDTF">2026-06-27T12:27:42Z</dcterms:created>
  <dcterms:modified xsi:type="dcterms:W3CDTF">2026-06-27T12:27:42Z</dcterms:modified>
</cp:coreProperties>
</file>